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75" r:id="rId2"/>
    <p:sldId id="277" r:id="rId3"/>
    <p:sldId id="276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5" autoAdjust="0"/>
    <p:restoredTop sz="91378" autoAdjust="0"/>
  </p:normalViewPr>
  <p:slideViewPr>
    <p:cSldViewPr snapToGrid="0">
      <p:cViewPr varScale="1">
        <p:scale>
          <a:sx n="93" d="100"/>
          <a:sy n="93" d="100"/>
        </p:scale>
        <p:origin x="91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1EC6CB-16E3-42A4-9AA6-263CC2620E8C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C5D02C-135A-4AF8-9CEB-0004CE1D70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5242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6900D-1D37-414A-982C-B290C6469A47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03FF-F866-45BA-9A91-73027A19D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2470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6900D-1D37-414A-982C-B290C6469A47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03FF-F866-45BA-9A91-73027A19D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2895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6900D-1D37-414A-982C-B290C6469A47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03FF-F866-45BA-9A91-73027A19D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5184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6900D-1D37-414A-982C-B290C6469A47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03FF-F866-45BA-9A91-73027A19D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5792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6900D-1D37-414A-982C-B290C6469A47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03FF-F866-45BA-9A91-73027A19D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159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6900D-1D37-414A-982C-B290C6469A47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03FF-F866-45BA-9A91-73027A19D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7285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6900D-1D37-414A-982C-B290C6469A47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03FF-F866-45BA-9A91-73027A19D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5754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6900D-1D37-414A-982C-B290C6469A47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03FF-F866-45BA-9A91-73027A19D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2967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6900D-1D37-414A-982C-B290C6469A47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03FF-F866-45BA-9A91-73027A19D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3351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6900D-1D37-414A-982C-B290C6469A47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03FF-F866-45BA-9A91-73027A19D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0804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6900D-1D37-414A-982C-B290C6469A47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03FF-F866-45BA-9A91-73027A19D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0571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A6900D-1D37-414A-982C-B290C6469A47}" type="datetimeFigureOut">
              <a:rPr kumimoji="1" lang="ja-JP" altLang="en-US" smtClean="0"/>
              <a:t>2026/4/3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EC03FF-F866-45BA-9A91-73027A19D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8023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1011A-A19C-6C46-373D-A8348BCAC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B9EE2C9-BA36-CA1F-C859-0A2F1729B36A}"/>
              </a:ext>
            </a:extLst>
          </p:cNvPr>
          <p:cNvSpPr txBox="1"/>
          <p:nvPr/>
        </p:nvSpPr>
        <p:spPr>
          <a:xfrm>
            <a:off x="0" y="3365921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この画面内をクリックすると、ビューアーが開かれる。</a:t>
            </a:r>
            <a:br>
              <a:rPr kumimoji="1" lang="en-US" altLang="ja-JP" dirty="0"/>
            </a:br>
            <a:r>
              <a:rPr kumimoji="1" lang="ja-JP" altLang="en-US" dirty="0"/>
              <a:t>元の画面は使いづらいのでこちらをおすすめする。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9AA01767-5F8F-F895-CA95-D2A436F47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3365921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75A3F841-779D-4D22-64B6-BE87F2076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312" y="4681419"/>
            <a:ext cx="4477375" cy="743054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02EF954-E32F-2D06-4C80-00041DF7E929}"/>
              </a:ext>
            </a:extLst>
          </p:cNvPr>
          <p:cNvSpPr txBox="1"/>
          <p:nvPr/>
        </p:nvSpPr>
        <p:spPr>
          <a:xfrm>
            <a:off x="0" y="4112196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すると、下部にこのようなツールが表示される。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EA115B0-7B6A-67F1-ACCA-95F829AAAD24}"/>
              </a:ext>
            </a:extLst>
          </p:cNvPr>
          <p:cNvSpPr txBox="1"/>
          <p:nvPr/>
        </p:nvSpPr>
        <p:spPr>
          <a:xfrm>
            <a:off x="61644" y="5773794"/>
            <a:ext cx="1366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拡大縮小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3A6222E-EB2C-E13F-7D5C-8E545C292177}"/>
              </a:ext>
            </a:extLst>
          </p:cNvPr>
          <p:cNvSpPr txBox="1"/>
          <p:nvPr/>
        </p:nvSpPr>
        <p:spPr>
          <a:xfrm>
            <a:off x="2762274" y="5773794"/>
            <a:ext cx="13664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タグ</a:t>
            </a:r>
            <a:br>
              <a:rPr kumimoji="1" lang="en-US" altLang="ja-JP" dirty="0"/>
            </a:br>
            <a:r>
              <a:rPr kumimoji="1" lang="ja-JP" altLang="en-US" dirty="0"/>
              <a:t>切り替え</a:t>
            </a:r>
            <a:br>
              <a:rPr kumimoji="1" lang="en-US" altLang="ja-JP" dirty="0"/>
            </a:br>
            <a:r>
              <a:rPr kumimoji="1" lang="en-US" altLang="ja-JP" dirty="0"/>
              <a:t>(</a:t>
            </a:r>
            <a:r>
              <a:rPr kumimoji="1" lang="ja-JP" altLang="en-US" dirty="0"/>
              <a:t>使わない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D625A8B-1B10-64B8-91E2-F4B07FC40E5A}"/>
              </a:ext>
            </a:extLst>
          </p:cNvPr>
          <p:cNvSpPr txBox="1"/>
          <p:nvPr/>
        </p:nvSpPr>
        <p:spPr>
          <a:xfrm>
            <a:off x="1395811" y="5773794"/>
            <a:ext cx="13664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レイヤー</a:t>
            </a:r>
            <a:br>
              <a:rPr kumimoji="1" lang="en-US" altLang="ja-JP" dirty="0"/>
            </a:br>
            <a:r>
              <a:rPr kumimoji="1" lang="ja-JP" altLang="en-US" dirty="0"/>
              <a:t>切り替え</a:t>
            </a:r>
            <a:br>
              <a:rPr kumimoji="1" lang="en-US" altLang="ja-JP" dirty="0"/>
            </a:br>
            <a:r>
              <a:rPr kumimoji="1" lang="en-US" altLang="ja-JP" dirty="0"/>
              <a:t>(</a:t>
            </a:r>
            <a:r>
              <a:rPr kumimoji="1" lang="ja-JP" altLang="en-US" dirty="0"/>
              <a:t>後述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D435B47-F3B7-0D84-63A8-5AFFEB829949}"/>
              </a:ext>
            </a:extLst>
          </p:cNvPr>
          <p:cNvSpPr txBox="1"/>
          <p:nvPr/>
        </p:nvSpPr>
        <p:spPr>
          <a:xfrm>
            <a:off x="4884265" y="5773794"/>
            <a:ext cx="701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編集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344E73A-D047-22F9-4363-B3D24E2FAC4F}"/>
              </a:ext>
            </a:extLst>
          </p:cNvPr>
          <p:cNvSpPr txBox="1"/>
          <p:nvPr/>
        </p:nvSpPr>
        <p:spPr>
          <a:xfrm>
            <a:off x="4096441" y="5773794"/>
            <a:ext cx="701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印刷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31ACD1DE-1535-7CFA-2414-1D2D2327EDD0}"/>
              </a:ext>
            </a:extLst>
          </p:cNvPr>
          <p:cNvSpPr txBox="1"/>
          <p:nvPr/>
        </p:nvSpPr>
        <p:spPr>
          <a:xfrm>
            <a:off x="5668441" y="5773794"/>
            <a:ext cx="99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閉じる</a:t>
            </a: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E03C9BC9-4279-5B80-A380-4DD9016517F6}"/>
              </a:ext>
            </a:extLst>
          </p:cNvPr>
          <p:cNvCxnSpPr>
            <a:endCxn id="14" idx="0"/>
          </p:cNvCxnSpPr>
          <p:nvPr/>
        </p:nvCxnSpPr>
        <p:spPr>
          <a:xfrm flipH="1">
            <a:off x="744876" y="5200650"/>
            <a:ext cx="982324" cy="5731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B3A76ACC-49BE-DB1A-3125-803A31AC66BA}"/>
              </a:ext>
            </a:extLst>
          </p:cNvPr>
          <p:cNvCxnSpPr>
            <a:cxnSpLocks/>
            <a:endCxn id="14" idx="0"/>
          </p:cNvCxnSpPr>
          <p:nvPr/>
        </p:nvCxnSpPr>
        <p:spPr>
          <a:xfrm flipH="1">
            <a:off x="744876" y="5200650"/>
            <a:ext cx="1482930" cy="5731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7C3D60CC-08B5-AB1E-EAA4-63BA750A2B77}"/>
              </a:ext>
            </a:extLst>
          </p:cNvPr>
          <p:cNvCxnSpPr>
            <a:cxnSpLocks/>
            <a:endCxn id="14" idx="0"/>
          </p:cNvCxnSpPr>
          <p:nvPr/>
        </p:nvCxnSpPr>
        <p:spPr>
          <a:xfrm flipH="1">
            <a:off x="744876" y="5200650"/>
            <a:ext cx="1959165" cy="5731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6E87882C-420D-D4DC-D6D4-BBDC1A12FF4A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2079043" y="5200650"/>
            <a:ext cx="1127238" cy="5731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7343C6DA-D0F0-D3FF-D18D-4FC9172038D7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3445506" y="5200650"/>
            <a:ext cx="206211" cy="5731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069C4975-5465-BDDF-2E37-8CC4B3976606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4211701" y="5200650"/>
            <a:ext cx="235346" cy="5731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57030E8A-46EC-1285-326C-4610857288D6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4686791" y="5200650"/>
            <a:ext cx="548080" cy="5731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02F21232-8047-C6D1-0C1B-F32959E6EFBA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5234867" y="5220522"/>
            <a:ext cx="931666" cy="55327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486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C79D5-EB11-6030-7D89-08005CBB5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178EBEA-C9A0-52A8-E6AA-CC4DE54F3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096" y="1561926"/>
            <a:ext cx="5531807" cy="6782148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AD17975-6BEE-39A8-882D-A05573BEEF3E}"/>
              </a:ext>
            </a:extLst>
          </p:cNvPr>
          <p:cNvSpPr txBox="1"/>
          <p:nvPr/>
        </p:nvSpPr>
        <p:spPr>
          <a:xfrm>
            <a:off x="180445" y="8405060"/>
            <a:ext cx="3309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/>
              <a:t>太い黒矢印はシリアル通信を示している。</a:t>
            </a:r>
            <a:endParaRPr kumimoji="1" lang="en-US" altLang="ja-JP" sz="1600" dirty="0"/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D517C18F-3BEA-C130-2581-C2C3E5BA91EF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1835203" y="7035626"/>
            <a:ext cx="1936697" cy="136943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24644F33-2120-898F-B9A3-9E1A5B794BB5}"/>
              </a:ext>
            </a:extLst>
          </p:cNvPr>
          <p:cNvSpPr txBox="1"/>
          <p:nvPr/>
        </p:nvSpPr>
        <p:spPr>
          <a:xfrm>
            <a:off x="3771900" y="8405060"/>
            <a:ext cx="3162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/>
              <a:t>色のついた処理はクリック</a:t>
            </a:r>
            <a:endParaRPr kumimoji="1" lang="en-US" altLang="ja-JP" sz="1600" dirty="0"/>
          </a:p>
          <a:p>
            <a:r>
              <a:rPr kumimoji="1" lang="ja-JP" altLang="en-US" sz="1600" dirty="0"/>
              <a:t>することで開くことができる。</a:t>
            </a:r>
            <a:endParaRPr kumimoji="1" lang="en-US" altLang="ja-JP" sz="1600" dirty="0"/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EBC34B8E-9BF2-6386-3572-8831970DE615}"/>
              </a:ext>
            </a:extLst>
          </p:cNvPr>
          <p:cNvCxnSpPr>
            <a:cxnSpLocks/>
            <a:endCxn id="21" idx="0"/>
          </p:cNvCxnSpPr>
          <p:nvPr/>
        </p:nvCxnSpPr>
        <p:spPr>
          <a:xfrm flipH="1">
            <a:off x="5353051" y="7178040"/>
            <a:ext cx="73607" cy="122702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6DE71E2A-FDCE-BA77-0172-A5A8C36607DB}"/>
              </a:ext>
            </a:extLst>
          </p:cNvPr>
          <p:cNvSpPr txBox="1"/>
          <p:nvPr/>
        </p:nvSpPr>
        <p:spPr>
          <a:xfrm>
            <a:off x="311994" y="207248"/>
            <a:ext cx="63559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/>
              <a:t>該当するプログラムの行数を示している。</a:t>
            </a:r>
            <a:endParaRPr kumimoji="1" lang="en-US" altLang="ja-JP" sz="1600" dirty="0"/>
          </a:p>
          <a:p>
            <a:r>
              <a:rPr kumimoji="1" lang="en-US" altLang="ja-JP" sz="1600" dirty="0"/>
              <a:t>Web</a:t>
            </a:r>
            <a:r>
              <a:rPr kumimoji="1" lang="ja-JP" altLang="en-US" sz="1600" dirty="0"/>
              <a:t>クライアントの場合は「</a:t>
            </a:r>
            <a:r>
              <a:rPr kumimoji="1" lang="en-US" altLang="ja-JP" sz="1600" dirty="0"/>
              <a:t>Client &gt; Web &gt; script.js</a:t>
            </a:r>
            <a:r>
              <a:rPr kumimoji="1" lang="ja-JP" altLang="en-US" sz="1600" dirty="0"/>
              <a:t>」</a:t>
            </a:r>
            <a:endParaRPr kumimoji="1" lang="en-US" altLang="ja-JP" sz="1600" dirty="0"/>
          </a:p>
          <a:p>
            <a:r>
              <a:rPr kumimoji="1" lang="en-US" altLang="ja-JP" sz="1600" dirty="0"/>
              <a:t>IMPACT</a:t>
            </a:r>
            <a:r>
              <a:rPr kumimoji="1" lang="ja-JP" altLang="en-US" sz="1600" dirty="0"/>
              <a:t>本体の場合は</a:t>
            </a:r>
            <a:endParaRPr kumimoji="1" lang="en-US" altLang="ja-JP" sz="1600" dirty="0"/>
          </a:p>
          <a:p>
            <a:r>
              <a:rPr kumimoji="1" lang="ja-JP" altLang="en-US" sz="1600" dirty="0"/>
              <a:t>「</a:t>
            </a:r>
            <a:r>
              <a:rPr kumimoji="1" lang="en-US" altLang="ja-JP" sz="1600" dirty="0"/>
              <a:t>microcomputer &gt; C_C++ &gt; </a:t>
            </a:r>
            <a:r>
              <a:rPr kumimoji="1" lang="en-US" altLang="ja-JP" sz="1600" dirty="0" err="1"/>
              <a:t>SMUcontrol</a:t>
            </a:r>
            <a:r>
              <a:rPr kumimoji="1" lang="en-US" altLang="ja-JP" sz="1600" dirty="0"/>
              <a:t> &gt; </a:t>
            </a:r>
            <a:r>
              <a:rPr kumimoji="1" lang="en-US" altLang="ja-JP" sz="1600" dirty="0" err="1"/>
              <a:t>SMUcontrol.c</a:t>
            </a:r>
            <a:r>
              <a:rPr kumimoji="1" lang="ja-JP" altLang="en-US" sz="1600" dirty="0"/>
              <a:t>」</a:t>
            </a:r>
            <a:endParaRPr kumimoji="1" lang="en-US" altLang="ja-JP" sz="1600" dirty="0"/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D3DFE893-39E8-1339-58DC-4277C9CDE9B2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2034283" y="1284466"/>
            <a:ext cx="1455678" cy="67789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0E1A30C-3346-71F0-B667-DEDAB3CA8B05}"/>
              </a:ext>
            </a:extLst>
          </p:cNvPr>
          <p:cNvSpPr txBox="1"/>
          <p:nvPr/>
        </p:nvSpPr>
        <p:spPr>
          <a:xfrm>
            <a:off x="4625938" y="5277918"/>
            <a:ext cx="2232062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1600" dirty="0"/>
              <a:t>処理が関数の場合は、</a:t>
            </a:r>
            <a:endParaRPr kumimoji="1" lang="en-US" altLang="ja-JP" sz="1600" dirty="0"/>
          </a:p>
          <a:p>
            <a:r>
              <a:rPr kumimoji="1" lang="en-US" altLang="ja-JP" sz="1600" dirty="0"/>
              <a:t>1</a:t>
            </a:r>
            <a:r>
              <a:rPr kumimoji="1" lang="ja-JP" altLang="en-US" sz="1600" dirty="0"/>
              <a:t>行目　呼び出し</a:t>
            </a:r>
            <a:endParaRPr kumimoji="1" lang="en-US" altLang="ja-JP" sz="1600" dirty="0"/>
          </a:p>
          <a:p>
            <a:r>
              <a:rPr kumimoji="1" lang="en-US" altLang="ja-JP" sz="1600" dirty="0"/>
              <a:t>2</a:t>
            </a:r>
            <a:r>
              <a:rPr kumimoji="1" lang="ja-JP" altLang="en-US" sz="1600" dirty="0"/>
              <a:t>行目　関数定義</a:t>
            </a:r>
            <a:endParaRPr kumimoji="1" lang="en-US" altLang="ja-JP" sz="1600" dirty="0"/>
          </a:p>
        </p:txBody>
      </p: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FDA37E1B-7894-C0BD-3474-B76FCD11611C}"/>
              </a:ext>
            </a:extLst>
          </p:cNvPr>
          <p:cNvCxnSpPr>
            <a:cxnSpLocks/>
            <a:stCxn id="38" idx="2"/>
          </p:cNvCxnSpPr>
          <p:nvPr/>
        </p:nvCxnSpPr>
        <p:spPr>
          <a:xfrm flipH="1">
            <a:off x="4787757" y="6108915"/>
            <a:ext cx="954212" cy="47682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8446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891FC-851C-2F01-6E00-30621E6E9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99FC6ECA-6BE4-8589-9E75-2C97644494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938" r="48511"/>
          <a:stretch>
            <a:fillRect/>
          </a:stretch>
        </p:blipFill>
        <p:spPr>
          <a:xfrm>
            <a:off x="985837" y="166569"/>
            <a:ext cx="561975" cy="743054"/>
          </a:xfrm>
          <a:prstGeom prst="rect">
            <a:avLst/>
          </a:prstGeom>
        </p:spPr>
      </p:pic>
      <p:sp>
        <p:nvSpPr>
          <p:cNvPr id="5" name="吹き出し: 四角形 4">
            <a:extLst>
              <a:ext uri="{FF2B5EF4-FFF2-40B4-BE49-F238E27FC236}">
                <a16:creationId xmlns:a16="http://schemas.microsoft.com/office/drawing/2014/main" id="{AB4803BD-168A-A992-E963-0DE20867AB70}"/>
              </a:ext>
            </a:extLst>
          </p:cNvPr>
          <p:cNvSpPr/>
          <p:nvPr/>
        </p:nvSpPr>
        <p:spPr>
          <a:xfrm>
            <a:off x="161924" y="1180866"/>
            <a:ext cx="2209800" cy="3814996"/>
          </a:xfrm>
          <a:prstGeom prst="wedgeRectCallout">
            <a:avLst>
              <a:gd name="adj1" fmla="val 6753"/>
              <a:gd name="adj2" fmla="val -61836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FDBD5D8-2489-C556-57A5-5CCB9FFECEF8}"/>
              </a:ext>
            </a:extLst>
          </p:cNvPr>
          <p:cNvSpPr txBox="1"/>
          <p:nvPr/>
        </p:nvSpPr>
        <p:spPr>
          <a:xfrm>
            <a:off x="2481128" y="1180866"/>
            <a:ext cx="42149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最初に「通信」と付くレイヤーを全て非表示にすることで、通信を表す矢印を非表示にすることができる。</a:t>
            </a:r>
            <a:endParaRPr kumimoji="1" lang="en-US" altLang="ja-JP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DF6A8AE4-9B14-2624-ED01-348E10D2B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507" y="1487940"/>
            <a:ext cx="1676634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031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NotoSansJP">
      <a:majorFont>
        <a:latin typeface="Noto Sans JP"/>
        <a:ea typeface="Noto Sans JP"/>
        <a:cs typeface=""/>
      </a:majorFont>
      <a:minorFont>
        <a:latin typeface="Noto Sans JP"/>
        <a:ea typeface="Noto Sans JP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314</TotalTime>
  <Words>163</Words>
  <Application>Microsoft Office PowerPoint</Application>
  <PresentationFormat>A4 210 x 297 mm</PresentationFormat>
  <Paragraphs>19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Noto Sans JP</vt:lpstr>
      <vt:lpstr>游ゴシック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eiku yoshioka</dc:creator>
  <cp:lastModifiedBy>eiku yoshioka</cp:lastModifiedBy>
  <cp:revision>3</cp:revision>
  <dcterms:created xsi:type="dcterms:W3CDTF">2026-03-25T11:04:55Z</dcterms:created>
  <dcterms:modified xsi:type="dcterms:W3CDTF">2026-04-03T14:54:20Z</dcterms:modified>
</cp:coreProperties>
</file>